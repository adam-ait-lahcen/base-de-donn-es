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3" r:id="rId5"/>
    <p:sldId id="269" r:id="rId6"/>
    <p:sldId id="270" r:id="rId7"/>
    <p:sldId id="271" r:id="rId8"/>
    <p:sldId id="272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5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1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81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Ait lahcen" userId="804e0d86b6261348" providerId="LiveId" clId="{C5E90EB3-32DE-4E5B-84B0-FCF4F1DA4F2C}"/>
    <pc:docChg chg="modSld">
      <pc:chgData name="Adam Ait lahcen" userId="804e0d86b6261348" providerId="LiveId" clId="{C5E90EB3-32DE-4E5B-84B0-FCF4F1DA4F2C}" dt="2026-09-20T09:53:54.288" v="6" actId="14100"/>
      <pc:docMkLst>
        <pc:docMk/>
      </pc:docMkLst>
      <pc:sldChg chg="modSp mod">
        <pc:chgData name="Adam Ait lahcen" userId="804e0d86b6261348" providerId="LiveId" clId="{C5E90EB3-32DE-4E5B-84B0-FCF4F1DA4F2C}" dt="2026-09-20T09:53:33.264" v="2" actId="1076"/>
        <pc:sldMkLst>
          <pc:docMk/>
          <pc:sldMk cId="0" sldId="256"/>
        </pc:sldMkLst>
        <pc:spChg chg="mod">
          <ac:chgData name="Adam Ait lahcen" userId="804e0d86b6261348" providerId="LiveId" clId="{C5E90EB3-32DE-4E5B-84B0-FCF4F1DA4F2C}" dt="2026-09-20T09:53:24.953" v="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am Ait lahcen" userId="804e0d86b6261348" providerId="LiveId" clId="{C5E90EB3-32DE-4E5B-84B0-FCF4F1DA4F2C}" dt="2026-09-20T09:53:33.264" v="2" actId="1076"/>
          <ac:spMkLst>
            <pc:docMk/>
            <pc:sldMk cId="0" sldId="256"/>
            <ac:spMk id="22" creationId="{00000000-0000-0000-0000-000000000000}"/>
          </ac:spMkLst>
        </pc:spChg>
        <pc:cxnChg chg="mod">
          <ac:chgData name="Adam Ait lahcen" userId="804e0d86b6261348" providerId="LiveId" clId="{C5E90EB3-32DE-4E5B-84B0-FCF4F1DA4F2C}" dt="2026-09-20T09:53:29.607" v="1" actId="14100"/>
          <ac:cxnSpMkLst>
            <pc:docMk/>
            <pc:sldMk cId="0" sldId="256"/>
            <ac:cxnSpMk id="11" creationId="{00000000-0000-0000-0000-000000000000}"/>
          </ac:cxnSpMkLst>
        </pc:cxnChg>
        <pc:cxnChg chg="mod">
          <ac:chgData name="Adam Ait lahcen" userId="804e0d86b6261348" providerId="LiveId" clId="{C5E90EB3-32DE-4E5B-84B0-FCF4F1DA4F2C}" dt="2026-09-20T09:53:33.264" v="2" actId="1076"/>
          <ac:cxnSpMkLst>
            <pc:docMk/>
            <pc:sldMk cId="0" sldId="256"/>
            <ac:cxnSpMk id="23" creationId="{00000000-0000-0000-0000-000000000000}"/>
          </ac:cxnSpMkLst>
        </pc:cxnChg>
      </pc:sldChg>
      <pc:sldChg chg="modSp mod">
        <pc:chgData name="Adam Ait lahcen" userId="804e0d86b6261348" providerId="LiveId" clId="{C5E90EB3-32DE-4E5B-84B0-FCF4F1DA4F2C}" dt="2026-09-20T09:53:44.984" v="4" actId="14100"/>
        <pc:sldMkLst>
          <pc:docMk/>
          <pc:sldMk cId="0" sldId="260"/>
        </pc:sldMkLst>
        <pc:cxnChg chg="mod">
          <ac:chgData name="Adam Ait lahcen" userId="804e0d86b6261348" providerId="LiveId" clId="{C5E90EB3-32DE-4E5B-84B0-FCF4F1DA4F2C}" dt="2026-09-20T09:53:40.485" v="3" actId="14100"/>
          <ac:cxnSpMkLst>
            <pc:docMk/>
            <pc:sldMk cId="0" sldId="260"/>
            <ac:cxnSpMk id="14" creationId="{00000000-0000-0000-0000-000000000000}"/>
          </ac:cxnSpMkLst>
        </pc:cxnChg>
        <pc:cxnChg chg="mod">
          <ac:chgData name="Adam Ait lahcen" userId="804e0d86b6261348" providerId="LiveId" clId="{C5E90EB3-32DE-4E5B-84B0-FCF4F1DA4F2C}" dt="2026-09-20T09:53:44.984" v="4" actId="14100"/>
          <ac:cxnSpMkLst>
            <pc:docMk/>
            <pc:sldMk cId="0" sldId="260"/>
            <ac:cxnSpMk id="15" creationId="{00000000-0000-0000-0000-000000000000}"/>
          </ac:cxnSpMkLst>
        </pc:cxnChg>
      </pc:sldChg>
      <pc:sldChg chg="modSp mod">
        <pc:chgData name="Adam Ait lahcen" userId="804e0d86b6261348" providerId="LiveId" clId="{C5E90EB3-32DE-4E5B-84B0-FCF4F1DA4F2C}" dt="2026-09-20T09:53:54.288" v="6" actId="14100"/>
        <pc:sldMkLst>
          <pc:docMk/>
          <pc:sldMk cId="0" sldId="263"/>
        </pc:sldMkLst>
        <pc:cxnChg chg="mod">
          <ac:chgData name="Adam Ait lahcen" userId="804e0d86b6261348" providerId="LiveId" clId="{C5E90EB3-32DE-4E5B-84B0-FCF4F1DA4F2C}" dt="2026-09-20T09:53:51.144" v="5" actId="14100"/>
          <ac:cxnSpMkLst>
            <pc:docMk/>
            <pc:sldMk cId="0" sldId="263"/>
            <ac:cxnSpMk id="14" creationId="{00000000-0000-0000-0000-000000000000}"/>
          </ac:cxnSpMkLst>
        </pc:cxnChg>
        <pc:cxnChg chg="mod">
          <ac:chgData name="Adam Ait lahcen" userId="804e0d86b6261348" providerId="LiveId" clId="{C5E90EB3-32DE-4E5B-84B0-FCF4F1DA4F2C}" dt="2026-09-20T09:53:54.288" v="6" actId="14100"/>
          <ac:cxnSpMkLst>
            <pc:docMk/>
            <pc:sldMk cId="0" sldId="263"/>
            <ac:cxnSpMk id="15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0" name="Oval 9"/>
          <p:cNvSpPr/>
          <p:nvPr/>
        </p:nvSpPr>
        <p:spPr>
          <a:xfrm>
            <a:off x="3252978" y="2340864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id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 flipH="1" flipV="1">
            <a:off x="4357116" y="2788920"/>
            <a:ext cx="1257300" cy="86868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First Name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355080" y="2578608"/>
            <a:ext cx="512064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Last Name</a:t>
            </a:r>
          </a:p>
        </p:txBody>
      </p:sp>
      <p:cxnSp>
        <p:nvCxnSpPr>
          <p:cNvPr id="15" name="Connector 14"/>
          <p:cNvCxnSpPr>
            <a:endCxn id="14" idx="5"/>
          </p:cNvCxnSpPr>
          <p:nvPr/>
        </p:nvCxnSpPr>
        <p:spPr>
          <a:xfrm flipH="1" flipV="1">
            <a:off x="4337656" y="3651974"/>
            <a:ext cx="737264" cy="16107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email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995160" y="3651974"/>
            <a:ext cx="234344" cy="562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Affiliation</a:t>
            </a:r>
          </a:p>
        </p:txBody>
      </p:sp>
      <p:cxnSp>
        <p:nvCxnSpPr>
          <p:cNvPr id="19" name="Connector 18"/>
          <p:cNvCxnSpPr>
            <a:endCxn id="18" idx="7"/>
          </p:cNvCxnSpPr>
          <p:nvPr/>
        </p:nvCxnSpPr>
        <p:spPr>
          <a:xfrm flipH="1">
            <a:off x="4977736" y="4297680"/>
            <a:ext cx="636680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550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5080" y="4297680"/>
            <a:ext cx="512064" cy="27432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720004" y="18288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 dirty="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  <p:cxnSp>
        <p:nvCxnSpPr>
          <p:cNvPr id="23" name="Connector 22"/>
          <p:cNvCxnSpPr>
            <a:stCxn id="9" idx="0"/>
            <a:endCxn id="22" idx="4"/>
          </p:cNvCxnSpPr>
          <p:nvPr/>
        </p:nvCxnSpPr>
        <p:spPr>
          <a:xfrm flipH="1" flipV="1">
            <a:off x="5520104" y="2304288"/>
            <a:ext cx="514936" cy="135331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Person — ISA — Student / 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92024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0" name="Diamond 9"/>
          <p:cNvSpPr/>
          <p:nvPr/>
        </p:nvSpPr>
        <p:spPr>
          <a:xfrm>
            <a:off x="5413248" y="2880360"/>
            <a:ext cx="1097280" cy="73152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34340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434340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542032"/>
            <a:ext cx="18288" cy="3383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 flipH="1">
            <a:off x="2999232" y="3429000"/>
            <a:ext cx="2682241" cy="9144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6263640" y="3429000"/>
            <a:ext cx="2862072" cy="9144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2606040"/>
            <a:ext cx="15087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EA5A4"/>
                </a:solidFill>
                <a:latin typeface="Aptos"/>
              </a:rPr>
              <a:t>Covering: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17373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EA5A4"/>
                </a:solidFill>
                <a:latin typeface="Aptos"/>
              </a:rPr>
              <a:t>Overlap: disjoint</a:t>
            </a:r>
          </a:p>
        </p:txBody>
      </p:sp>
      <p:cxnSp>
        <p:nvCxnSpPr>
          <p:cNvPr id="19" name="Connector 11"/>
          <p:cNvCxnSpPr/>
          <p:nvPr/>
        </p:nvCxnSpPr>
        <p:spPr>
          <a:xfrm>
            <a:off x="1725295" y="3904488"/>
            <a:ext cx="574675" cy="438785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0"/>
          <p:cNvSpPr/>
          <p:nvPr/>
        </p:nvSpPr>
        <p:spPr>
          <a:xfrm>
            <a:off x="831850" y="3429000"/>
            <a:ext cx="164592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Program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8620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788920"/>
            <a:ext cx="1691640" cy="457200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Phone Number</a:t>
            </a:r>
          </a:p>
        </p:txBody>
      </p:sp>
      <p:sp>
        <p:nvSpPr>
          <p:cNvPr id="11" name="Oval 10"/>
          <p:cNvSpPr/>
          <p:nvPr/>
        </p:nvSpPr>
        <p:spPr>
          <a:xfrm>
            <a:off x="3886200" y="2788920"/>
            <a:ext cx="1188720" cy="457200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Office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2032" y="3246120"/>
            <a:ext cx="109728" cy="64008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43200" y="3246120"/>
            <a:ext cx="1737360" cy="64008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Employee — ISA — Academic / Non-Academic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92024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10" name="Diamond 9"/>
          <p:cNvSpPr/>
          <p:nvPr/>
        </p:nvSpPr>
        <p:spPr>
          <a:xfrm>
            <a:off x="5440680" y="2852928"/>
            <a:ext cx="1097280" cy="73152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4343400"/>
            <a:ext cx="17373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34340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Non-Academic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80" y="2542032"/>
            <a:ext cx="45720" cy="31089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 flipH="1">
            <a:off x="2926080" y="3429000"/>
            <a:ext cx="2761488" cy="9144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6254496" y="3429000"/>
            <a:ext cx="2980944" cy="9144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Non-Academic — ISA — Administrative / Technical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920240"/>
            <a:ext cx="1874519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Non-Academic</a:t>
            </a:r>
          </a:p>
        </p:txBody>
      </p:sp>
      <p:sp>
        <p:nvSpPr>
          <p:cNvPr id="10" name="Diamond 9"/>
          <p:cNvSpPr/>
          <p:nvPr/>
        </p:nvSpPr>
        <p:spPr>
          <a:xfrm>
            <a:off x="5440680" y="2852928"/>
            <a:ext cx="1097280" cy="73152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34340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Administrative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34340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Technical staff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2542032"/>
            <a:ext cx="0" cy="31089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34640" y="3429000"/>
            <a:ext cx="2819401" cy="9144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endCxn id="12" idx="0"/>
          </p:cNvCxnSpPr>
          <p:nvPr/>
        </p:nvCxnSpPr>
        <p:spPr>
          <a:xfrm>
            <a:off x="6149340" y="3410712"/>
            <a:ext cx="2994660" cy="93268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Student — Supervised by — 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79476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Student</a:t>
            </a:r>
          </a:p>
        </p:txBody>
      </p:sp>
      <p:sp>
        <p:nvSpPr>
          <p:cNvPr id="10" name="Diamond 9"/>
          <p:cNvSpPr/>
          <p:nvPr/>
        </p:nvSpPr>
        <p:spPr>
          <a:xfrm>
            <a:off x="3977639" y="3657600"/>
            <a:ext cx="132588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Supervised 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79476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017520" y="4041648"/>
            <a:ext cx="960119" cy="73152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4041648"/>
            <a:ext cx="1371600" cy="7315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Employee — Reports to — 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794760"/>
            <a:ext cx="17373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10" name="Diamond 9"/>
          <p:cNvSpPr/>
          <p:nvPr/>
        </p:nvSpPr>
        <p:spPr>
          <a:xfrm>
            <a:off x="3886200" y="3657600"/>
            <a:ext cx="123444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Reports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794760"/>
            <a:ext cx="17373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88920" y="4041648"/>
            <a:ext cx="1097280" cy="7315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4041648"/>
            <a:ext cx="1600200" cy="7315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557045">
            <a:off x="6638572" y="4058683"/>
            <a:ext cx="109728" cy="109728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4238625"/>
            <a:ext cx="164592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Aptos"/>
              </a:rPr>
              <a:t>subordinate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370" y="4224655"/>
            <a:ext cx="164592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Aptos"/>
              </a:rPr>
              <a:t>supervisor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lab-id</a:t>
            </a:r>
          </a:p>
        </p:txBody>
      </p:sp>
      <p:cxnSp>
        <p:nvCxnSpPr>
          <p:cNvPr id="11" name="Connector 10"/>
          <p:cNvCxnSpPr>
            <a:endCxn id="10" idx="4"/>
          </p:cNvCxnSpPr>
          <p:nvPr/>
        </p:nvCxnSpPr>
        <p:spPr>
          <a:xfrm flipH="1" flipV="1">
            <a:off x="4549139" y="2578608"/>
            <a:ext cx="1001269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cxnSp>
        <p:nvCxnSpPr>
          <p:cNvPr id="13" name="Connector 12"/>
          <p:cNvCxnSpPr>
            <a:stCxn id="9" idx="0"/>
          </p:cNvCxnSpPr>
          <p:nvPr/>
        </p:nvCxnSpPr>
        <p:spPr>
          <a:xfrm flipV="1">
            <a:off x="6035040" y="2578608"/>
            <a:ext cx="807723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Building</a:t>
            </a:r>
          </a:p>
        </p:txBody>
      </p:sp>
      <p:cxnSp>
        <p:nvCxnSpPr>
          <p:cNvPr id="15" name="Connector 14"/>
          <p:cNvCxnSpPr>
            <a:stCxn id="9" idx="1"/>
          </p:cNvCxnSpPr>
          <p:nvPr/>
        </p:nvCxnSpPr>
        <p:spPr>
          <a:xfrm flipH="1" flipV="1">
            <a:off x="4411980" y="3651974"/>
            <a:ext cx="662940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Room number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922008" y="3651974"/>
            <a:ext cx="307496" cy="6963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Discipline area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809744" y="4297680"/>
            <a:ext cx="667512" cy="3383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74320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Serial Number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0" y="274320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Acquisition date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457200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Purchase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457200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Operational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96596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Portable / fixed</a:t>
            </a:r>
          </a:p>
        </p:txBody>
      </p:sp>
      <p:cxnSp>
        <p:nvCxnSpPr>
          <p:cNvPr id="16" name="Straight Connector 15"/>
          <p:cNvCxnSpPr>
            <a:stCxn id="14" idx="4"/>
          </p:cNvCxnSpPr>
          <p:nvPr/>
        </p:nvCxnSpPr>
        <p:spPr>
          <a:xfrm flipH="1">
            <a:off x="8951976" y="2404872"/>
            <a:ext cx="9144" cy="14356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4"/>
          </p:cNvCxnSpPr>
          <p:nvPr/>
        </p:nvCxnSpPr>
        <p:spPr>
          <a:xfrm flipH="1">
            <a:off x="9692640" y="3182112"/>
            <a:ext cx="182880" cy="658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229600" y="3182112"/>
            <a:ext cx="429768" cy="658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2" idx="7"/>
          </p:cNvCxnSpPr>
          <p:nvPr/>
        </p:nvCxnSpPr>
        <p:spPr>
          <a:xfrm flipV="1">
            <a:off x="8563983" y="4462272"/>
            <a:ext cx="95385" cy="1740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491472" y="4462272"/>
            <a:ext cx="82296" cy="1740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Laboratory — Host — 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0" name="Diamond 9"/>
          <p:cNvSpPr/>
          <p:nvPr/>
        </p:nvSpPr>
        <p:spPr>
          <a:xfrm>
            <a:off x="3749039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19659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4041648"/>
            <a:ext cx="868679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4041648"/>
            <a:ext cx="155448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6200000">
            <a:off x="4919471" y="3968495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Laboratory — Attached to —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0" name="Diamond 9"/>
          <p:cNvSpPr/>
          <p:nvPr/>
        </p:nvSpPr>
        <p:spPr>
          <a:xfrm>
            <a:off x="3749039" y="3657600"/>
            <a:ext cx="137160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Attached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4041648"/>
            <a:ext cx="868679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4041648"/>
            <a:ext cx="146304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LABORATORIES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Laboratory — Supervised by — 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0" name="Diamond 9"/>
          <p:cNvSpPr/>
          <p:nvPr/>
        </p:nvSpPr>
        <p:spPr>
          <a:xfrm>
            <a:off x="3749039" y="3657600"/>
            <a:ext cx="14173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Supervised by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84048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4041648"/>
            <a:ext cx="868679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4968046">
            <a:off x="3648672" y="3971933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166360" y="4041648"/>
            <a:ext cx="15544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RESEARCH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Project Code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727448" y="2578608"/>
            <a:ext cx="896112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Title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291072" y="2578608"/>
            <a:ext cx="566928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Status</a:t>
            </a:r>
          </a:p>
        </p:txBody>
      </p:sp>
      <p:cxnSp>
        <p:nvCxnSpPr>
          <p:cNvPr id="15" name="Connector 14"/>
          <p:cNvCxnSpPr>
            <a:stCxn id="9" idx="1"/>
            <a:endCxn id="14" idx="5"/>
          </p:cNvCxnSpPr>
          <p:nvPr/>
        </p:nvCxnSpPr>
        <p:spPr>
          <a:xfrm flipH="1" flipV="1">
            <a:off x="4337656" y="3651974"/>
            <a:ext cx="737264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995160" y="3651974"/>
            <a:ext cx="234344" cy="6963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  <p:cxnSp>
        <p:nvCxnSpPr>
          <p:cNvPr id="19" name="Connector 18"/>
          <p:cNvCxnSpPr>
            <a:endCxn id="18" idx="7"/>
          </p:cNvCxnSpPr>
          <p:nvPr/>
        </p:nvCxnSpPr>
        <p:spPr>
          <a:xfrm flipH="1">
            <a:off x="4977736" y="4297680"/>
            <a:ext cx="481232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RESEARCH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RESEARCH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Project — Involves —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84048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Involves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4041648"/>
            <a:ext cx="100584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4041648"/>
            <a:ext cx="15544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RESEARCH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Project — Involves —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84048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Involves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788920"/>
            <a:ext cx="1097280" cy="457200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Role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251960" y="3246120"/>
            <a:ext cx="685800" cy="41148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651760" y="4041648"/>
            <a:ext cx="100584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4041648"/>
            <a:ext cx="15544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Budgeting time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709160" y="2578608"/>
            <a:ext cx="1051560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Money Granted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217920" y="2578608"/>
            <a:ext cx="624843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Amount disbursed</a:t>
            </a:r>
          </a:p>
        </p:txBody>
      </p:sp>
      <p:cxnSp>
        <p:nvCxnSpPr>
          <p:cNvPr id="15" name="Connector 14"/>
          <p:cNvCxnSpPr>
            <a:stCxn id="9" idx="1"/>
            <a:endCxn id="14" idx="5"/>
          </p:cNvCxnSpPr>
          <p:nvPr/>
        </p:nvCxnSpPr>
        <p:spPr>
          <a:xfrm flipH="1" flipV="1">
            <a:off x="4337656" y="3651974"/>
            <a:ext cx="737264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995160" y="3651974"/>
            <a:ext cx="234344" cy="6963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800600" y="4297680"/>
            <a:ext cx="850392" cy="35661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 — Manages — 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Manages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51760" y="4041648"/>
            <a:ext cx="100584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026450">
            <a:off x="3557177" y="3971470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041648"/>
            <a:ext cx="15544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 — Funds Lab — 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10" name="Diamond 9"/>
          <p:cNvSpPr/>
          <p:nvPr/>
        </p:nvSpPr>
        <p:spPr>
          <a:xfrm>
            <a:off x="3520440" y="3657600"/>
            <a:ext cx="114300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Funds 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178308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560320" y="4041648"/>
            <a:ext cx="96012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4041648"/>
            <a:ext cx="146304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 — Funds Project —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10" name="Diamond 9"/>
          <p:cNvSpPr/>
          <p:nvPr/>
        </p:nvSpPr>
        <p:spPr>
          <a:xfrm>
            <a:off x="3520440" y="3657600"/>
            <a:ext cx="123444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Funds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560320" y="4041648"/>
            <a:ext cx="96012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4041648"/>
            <a:ext cx="141732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Model-id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764024" y="2578608"/>
            <a:ext cx="722376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Commercial name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217920" y="2578608"/>
            <a:ext cx="594360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Manufacturer</a:t>
            </a:r>
          </a:p>
        </p:txBody>
      </p:sp>
      <p:cxnSp>
        <p:nvCxnSpPr>
          <p:cNvPr id="15" name="Connector 14"/>
          <p:cNvCxnSpPr>
            <a:stCxn id="9" idx="1"/>
            <a:endCxn id="14" idx="5"/>
          </p:cNvCxnSpPr>
          <p:nvPr/>
        </p:nvCxnSpPr>
        <p:spPr>
          <a:xfrm flipH="1" flipV="1">
            <a:off x="4337656" y="3651974"/>
            <a:ext cx="554384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Category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812280" y="3651974"/>
            <a:ext cx="417224" cy="16107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Required environment</a:t>
            </a:r>
          </a:p>
        </p:txBody>
      </p:sp>
      <p:cxnSp>
        <p:nvCxnSpPr>
          <p:cNvPr id="19" name="Connector 18"/>
          <p:cNvCxnSpPr>
            <a:endCxn id="18" idx="7"/>
          </p:cNvCxnSpPr>
          <p:nvPr/>
        </p:nvCxnSpPr>
        <p:spPr>
          <a:xfrm flipH="1">
            <a:off x="4977736" y="4297680"/>
            <a:ext cx="371503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550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Special Training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81928" y="4297680"/>
            <a:ext cx="466344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Model — Concept to — 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40480"/>
            <a:ext cx="19202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28016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Concept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88920" y="4041648"/>
            <a:ext cx="8686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4041648"/>
            <a:ext cx="146304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6419457">
            <a:off x="4864607" y="3945690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Unit — Use —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4300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4989434">
            <a:off x="3575499" y="3990052"/>
            <a:ext cx="109728" cy="109728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800600" y="4041648"/>
            <a:ext cx="169164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Unit — Local in — 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23444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Local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173736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4989434">
            <a:off x="3557211" y="3971764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041648"/>
            <a:ext cx="16002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Code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681728" y="2578608"/>
            <a:ext cx="832104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Title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6000" y="2578608"/>
            <a:ext cx="716280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Issuing Authority</a:t>
            </a:r>
          </a:p>
        </p:txBody>
      </p:sp>
      <p:cxnSp>
        <p:nvCxnSpPr>
          <p:cNvPr id="15" name="Connector 14"/>
          <p:cNvCxnSpPr>
            <a:endCxn id="14" idx="5"/>
          </p:cNvCxnSpPr>
          <p:nvPr/>
        </p:nvCxnSpPr>
        <p:spPr>
          <a:xfrm flipH="1" flipV="1">
            <a:off x="4337656" y="3651974"/>
            <a:ext cx="554384" cy="17936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Validity Period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812280" y="3651974"/>
            <a:ext cx="417224" cy="17936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Safety Level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681728" y="4297680"/>
            <a:ext cx="667511" cy="3383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Certification — Holds —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4300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2" name="Oval 11"/>
          <p:cNvSpPr/>
          <p:nvPr/>
        </p:nvSpPr>
        <p:spPr>
          <a:xfrm>
            <a:off x="3246120" y="2743200"/>
            <a:ext cx="137160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Issue date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2743200"/>
            <a:ext cx="160020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Expiration date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4663440"/>
            <a:ext cx="109728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Grade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00600" y="4041648"/>
            <a:ext cx="16002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31920" y="3182112"/>
            <a:ext cx="228600" cy="47548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72000" y="3182112"/>
            <a:ext cx="1097280" cy="65836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297680" y="4434840"/>
            <a:ext cx="365760" cy="22860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Certification — Requires — Equipment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10" name="Diamond 9"/>
          <p:cNvSpPr/>
          <p:nvPr/>
        </p:nvSpPr>
        <p:spPr>
          <a:xfrm>
            <a:off x="3657600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Requires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4041648"/>
            <a:ext cx="155448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id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640580" y="2540203"/>
            <a:ext cx="800100" cy="1117397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Submission timestamp</a:t>
            </a:r>
          </a:p>
        </p:txBody>
      </p:sp>
      <p:cxnSp>
        <p:nvCxnSpPr>
          <p:cNvPr id="13" name="Connector 12"/>
          <p:cNvCxnSpPr>
            <a:stCxn id="9" idx="0"/>
          </p:cNvCxnSpPr>
          <p:nvPr/>
        </p:nvCxnSpPr>
        <p:spPr>
          <a:xfrm flipV="1">
            <a:off x="5852160" y="2578608"/>
            <a:ext cx="899162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time</a:t>
            </a:r>
          </a:p>
        </p:txBody>
      </p:sp>
      <p:cxnSp>
        <p:nvCxnSpPr>
          <p:cNvPr id="15" name="Connector 14"/>
          <p:cNvCxnSpPr>
            <a:stCxn id="9" idx="1"/>
            <a:endCxn id="14" idx="5"/>
          </p:cNvCxnSpPr>
          <p:nvPr/>
        </p:nvCxnSpPr>
        <p:spPr>
          <a:xfrm flipH="1" flipV="1">
            <a:off x="4337656" y="3651974"/>
            <a:ext cx="554384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End time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812280" y="3651974"/>
            <a:ext cx="417224" cy="162833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Purpose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807750" y="4306824"/>
            <a:ext cx="550049" cy="32461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550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 dirty="0">
                <a:solidFill>
                  <a:srgbClr val="1E293B"/>
                </a:solidFill>
                <a:latin typeface="Aptos"/>
              </a:rPr>
              <a:t>Status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4297680"/>
            <a:ext cx="533402" cy="33375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Reservation — Made by — Equipment Unit / Research project /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7955279" cy="288036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423160"/>
            <a:ext cx="16459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12" name="Diamond 11"/>
          <p:cNvSpPr/>
          <p:nvPr/>
        </p:nvSpPr>
        <p:spPr>
          <a:xfrm>
            <a:off x="3584448" y="3246120"/>
            <a:ext cx="1143000" cy="749808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Made by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017520"/>
            <a:ext cx="0" cy="228600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4041648" y="3145536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3621024"/>
            <a:ext cx="932688" cy="548639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27448" y="3621024"/>
            <a:ext cx="713232" cy="512063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7540584">
            <a:off x="5345244" y="4043937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>
            <a:stCxn id="12" idx="2"/>
          </p:cNvCxnSpPr>
          <p:nvPr/>
        </p:nvCxnSpPr>
        <p:spPr>
          <a:xfrm flipH="1">
            <a:off x="4114800" y="3995928"/>
            <a:ext cx="41148" cy="347472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1121638">
            <a:off x="4035135" y="4261057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3840480"/>
            <a:ext cx="1618488" cy="5943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fr-FR" sz="1500" b="1" dirty="0">
                <a:solidFill>
                  <a:srgbClr val="1E293B"/>
                </a:solidFill>
                <a:latin typeface="Aptos"/>
              </a:rPr>
              <a:t>Equipment Unit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440680" y="3901812"/>
            <a:ext cx="1709928" cy="512063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fr-FR" sz="1500" b="1" dirty="0" err="1">
                <a:solidFill>
                  <a:srgbClr val="1E293B"/>
                </a:solidFill>
                <a:latin typeface="Aptos"/>
              </a:rPr>
              <a:t>Research</a:t>
            </a:r>
            <a:r>
              <a:rPr lang="fr-FR" sz="1500" b="1" dirty="0">
                <a:solidFill>
                  <a:srgbClr val="1E293B"/>
                </a:solidFill>
                <a:latin typeface="Aptos"/>
              </a:rPr>
              <a:t> Project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28" name="Rounded Rectangle 10"/>
          <p:cNvSpPr/>
          <p:nvPr/>
        </p:nvSpPr>
        <p:spPr>
          <a:xfrm>
            <a:off x="3118104" y="4343400"/>
            <a:ext cx="16459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500" b="1" dirty="0">
                <a:solidFill>
                  <a:srgbClr val="1E293B"/>
                </a:solidFill>
                <a:latin typeface="Aptos"/>
              </a:rPr>
              <a:t>Person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Reservation — Made by — Equipment Unit / Research project / 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7955279" cy="288036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423160"/>
            <a:ext cx="16459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12" name="Diamond 11"/>
          <p:cNvSpPr/>
          <p:nvPr/>
        </p:nvSpPr>
        <p:spPr>
          <a:xfrm>
            <a:off x="3584448" y="3246120"/>
            <a:ext cx="1143000" cy="749808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 dirty="0">
                <a:solidFill>
                  <a:srgbClr val="1E293B"/>
                </a:solidFill>
                <a:latin typeface="Aptos"/>
              </a:rPr>
              <a:t>Made by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017520"/>
            <a:ext cx="0" cy="228600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4041648" y="3145536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3621024"/>
            <a:ext cx="932688" cy="548639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27448" y="3621024"/>
            <a:ext cx="713232" cy="512063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7540584">
            <a:off x="5345244" y="4043937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>
            <a:stCxn id="12" idx="2"/>
          </p:cNvCxnSpPr>
          <p:nvPr/>
        </p:nvCxnSpPr>
        <p:spPr>
          <a:xfrm flipH="1">
            <a:off x="4114800" y="3995928"/>
            <a:ext cx="41148" cy="347472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1121638">
            <a:off x="4035135" y="4261057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3840480"/>
            <a:ext cx="1618488" cy="59436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fr-FR" sz="1500" b="1" dirty="0">
                <a:solidFill>
                  <a:srgbClr val="1E293B"/>
                </a:solidFill>
                <a:latin typeface="Aptos"/>
              </a:rPr>
              <a:t>Equipment Unit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440680" y="3901812"/>
            <a:ext cx="1709928" cy="512063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fr-FR" sz="1500" b="1" dirty="0" err="1">
                <a:solidFill>
                  <a:srgbClr val="1E293B"/>
                </a:solidFill>
                <a:latin typeface="Aptos"/>
              </a:rPr>
              <a:t>Research</a:t>
            </a:r>
            <a:r>
              <a:rPr lang="fr-FR" sz="1500" b="1" dirty="0">
                <a:solidFill>
                  <a:srgbClr val="1E293B"/>
                </a:solidFill>
                <a:latin typeface="Aptos"/>
              </a:rPr>
              <a:t> Project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28" name="Rounded Rectangle 10"/>
          <p:cNvSpPr/>
          <p:nvPr/>
        </p:nvSpPr>
        <p:spPr>
          <a:xfrm>
            <a:off x="3118104" y="4343400"/>
            <a:ext cx="1645920" cy="50840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500" b="1" dirty="0">
                <a:solidFill>
                  <a:srgbClr val="1E293B"/>
                </a:solidFill>
                <a:latin typeface="Aptos"/>
              </a:rPr>
              <a:t>Person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3" name="Diamond 12"/>
          <p:cNvSpPr/>
          <p:nvPr/>
        </p:nvSpPr>
        <p:spPr>
          <a:xfrm>
            <a:off x="5221224" y="5312664"/>
            <a:ext cx="1554480" cy="749808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050" b="1" dirty="0" err="1">
                <a:solidFill>
                  <a:srgbClr val="1E293B"/>
                </a:solidFill>
                <a:latin typeface="Aptos"/>
              </a:rPr>
              <a:t>Approved</a:t>
            </a:r>
            <a:r>
              <a:rPr lang="fr-FR" sz="1050" b="1" dirty="0">
                <a:solidFill>
                  <a:srgbClr val="1E293B"/>
                </a:solidFill>
                <a:latin typeface="Aptos"/>
              </a:rPr>
              <a:t> by</a:t>
            </a:r>
            <a:endParaRPr sz="1050" b="1" dirty="0">
              <a:solidFill>
                <a:srgbClr val="1E293B"/>
              </a:solidFill>
              <a:latin typeface="Aptos"/>
            </a:endParaRPr>
          </a:p>
        </p:txBody>
      </p:sp>
      <p:cxnSp>
        <p:nvCxnSpPr>
          <p:cNvPr id="15" name="Straight Connector 14"/>
          <p:cNvCxnSpPr>
            <a:endCxn id="13" idx="0"/>
          </p:cNvCxnSpPr>
          <p:nvPr/>
        </p:nvCxnSpPr>
        <p:spPr>
          <a:xfrm>
            <a:off x="5989896" y="4892040"/>
            <a:ext cx="8568" cy="4206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ed Rectangle 10"/>
          <p:cNvSpPr/>
          <p:nvPr/>
        </p:nvSpPr>
        <p:spPr>
          <a:xfrm>
            <a:off x="8409432" y="5460797"/>
            <a:ext cx="1645920" cy="50840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500" b="1" dirty="0">
                <a:solidFill>
                  <a:srgbClr val="1E293B"/>
                </a:solidFill>
                <a:latin typeface="Aptos"/>
              </a:rPr>
              <a:t>Academic</a:t>
            </a:r>
            <a:endParaRPr sz="1500" b="1" dirty="0">
              <a:solidFill>
                <a:srgbClr val="1E293B"/>
              </a:solidFill>
              <a:latin typeface="Aptos"/>
            </a:endParaRPr>
          </a:p>
        </p:txBody>
      </p:sp>
      <p:cxnSp>
        <p:nvCxnSpPr>
          <p:cNvPr id="31" name="Connector 17"/>
          <p:cNvCxnSpPr>
            <a:stCxn id="13" idx="3"/>
            <a:endCxn id="26" idx="1"/>
          </p:cNvCxnSpPr>
          <p:nvPr/>
        </p:nvCxnSpPr>
        <p:spPr>
          <a:xfrm>
            <a:off x="6775704" y="5687568"/>
            <a:ext cx="1633728" cy="27432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timestamps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7096" y="2431206"/>
            <a:ext cx="704087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718304" y="2578608"/>
            <a:ext cx="813816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End timestamps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96000" y="2578608"/>
            <a:ext cx="746763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Type</a:t>
            </a:r>
          </a:p>
        </p:txBody>
      </p:sp>
      <p:cxnSp>
        <p:nvCxnSpPr>
          <p:cNvPr id="16" name="Connector 15"/>
          <p:cNvCxnSpPr>
            <a:endCxn id="15" idx="5"/>
          </p:cNvCxnSpPr>
          <p:nvPr/>
        </p:nvCxnSpPr>
        <p:spPr>
          <a:xfrm flipH="1" flipV="1">
            <a:off x="4337656" y="3651974"/>
            <a:ext cx="563527" cy="15193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Description</a:t>
            </a:r>
          </a:p>
        </p:txBody>
      </p:sp>
      <p:cxnSp>
        <p:nvCxnSpPr>
          <p:cNvPr id="18" name="Connector 17"/>
          <p:cNvCxnSpPr>
            <a:stCxn id="9" idx="3"/>
            <a:endCxn id="17" idx="3"/>
          </p:cNvCxnSpPr>
          <p:nvPr/>
        </p:nvCxnSpPr>
        <p:spPr>
          <a:xfrm flipV="1">
            <a:off x="6812280" y="3651974"/>
            <a:ext cx="417224" cy="32566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Cost</a:t>
            </a:r>
          </a:p>
        </p:txBody>
      </p:sp>
      <p:cxnSp>
        <p:nvCxnSpPr>
          <p:cNvPr id="20" name="Connector 19"/>
          <p:cNvCxnSpPr>
            <a:endCxn id="19" idx="7"/>
          </p:cNvCxnSpPr>
          <p:nvPr/>
        </p:nvCxnSpPr>
        <p:spPr>
          <a:xfrm flipH="1">
            <a:off x="4977736" y="4297680"/>
            <a:ext cx="371503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550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Outcome</a:t>
            </a:r>
          </a:p>
        </p:txBody>
      </p:sp>
      <p:cxnSp>
        <p:nvCxnSpPr>
          <p:cNvPr id="22" name="Connector 21"/>
          <p:cNvCxnSpPr>
            <a:endCxn id="21" idx="1"/>
          </p:cNvCxnSpPr>
          <p:nvPr/>
        </p:nvCxnSpPr>
        <p:spPr>
          <a:xfrm>
            <a:off x="6217920" y="4297680"/>
            <a:ext cx="371504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3188" y="3881628"/>
            <a:ext cx="1746504" cy="539496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83480" y="2788920"/>
            <a:ext cx="1645920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Start timestamps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44337" y="3091769"/>
            <a:ext cx="724205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3227832"/>
            <a:ext cx="0" cy="61264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Maintenance — Identified by — 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7" y="3881628"/>
            <a:ext cx="1746504" cy="539496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3657600" y="3657600"/>
            <a:ext cx="132588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Identified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83480" y="4041648"/>
            <a:ext cx="155448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Maintenance — Carried out by — Technical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7" y="3881628"/>
            <a:ext cx="1746504" cy="539496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3657600" y="3657600"/>
            <a:ext cx="132588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Carried out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19202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Technical staff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" y="4041648"/>
            <a:ext cx="91440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4989434">
            <a:off x="3557211" y="3971764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983480" y="4041648"/>
            <a:ext cx="141732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97096" y="2431206"/>
            <a:ext cx="704087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736592" y="2578608"/>
            <a:ext cx="612647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Type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730240" y="2578608"/>
            <a:ext cx="1082039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Results</a:t>
            </a:r>
          </a:p>
        </p:txBody>
      </p:sp>
      <p:cxnSp>
        <p:nvCxnSpPr>
          <p:cNvPr id="16" name="Connector 15"/>
          <p:cNvCxnSpPr>
            <a:endCxn id="15" idx="5"/>
          </p:cNvCxnSpPr>
          <p:nvPr/>
        </p:nvCxnSpPr>
        <p:spPr>
          <a:xfrm flipH="1" flipV="1">
            <a:off x="4337656" y="3651974"/>
            <a:ext cx="234344" cy="119857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Next due date</a:t>
            </a:r>
          </a:p>
        </p:txBody>
      </p:sp>
      <p:cxnSp>
        <p:nvCxnSpPr>
          <p:cNvPr id="18" name="Connector 17"/>
          <p:cNvCxnSpPr>
            <a:endCxn id="17" idx="3"/>
          </p:cNvCxnSpPr>
          <p:nvPr/>
        </p:nvCxnSpPr>
        <p:spPr>
          <a:xfrm flipV="1">
            <a:off x="6481747" y="3651974"/>
            <a:ext cx="747757" cy="179363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Remarks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736592" y="4261034"/>
            <a:ext cx="475488" cy="361189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840480"/>
            <a:ext cx="20574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3148" y="3881628"/>
            <a:ext cx="1975104" cy="539496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83480" y="2788920"/>
            <a:ext cx="1097280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90718" y="3091769"/>
            <a:ext cx="482803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3227832"/>
            <a:ext cx="0" cy="61264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Calibration Record — Requires — 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20574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7" y="3881628"/>
            <a:ext cx="1975104" cy="539496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3840480" y="3657600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Requires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4041648"/>
            <a:ext cx="868680" cy="10972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0" y="4041648"/>
            <a:ext cx="137160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657600"/>
            <a:ext cx="1920240" cy="640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0" name="Oval 9"/>
          <p:cNvSpPr/>
          <p:nvPr/>
        </p:nvSpPr>
        <p:spPr>
          <a:xfrm>
            <a:off x="3749039" y="2103120"/>
            <a:ext cx="1600200" cy="47548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1" u="sng">
                <a:solidFill>
                  <a:srgbClr val="1E293B"/>
                </a:solidFill>
                <a:latin typeface="Aptos"/>
              </a:rPr>
              <a:t>stone-id</a:t>
            </a:r>
          </a:p>
        </p:txBody>
      </p:sp>
      <p:cxnSp>
        <p:nvCxnSpPr>
          <p:cNvPr id="11" name="Connector 10"/>
          <p:cNvCxnSpPr>
            <a:endCxn id="10" idx="4"/>
          </p:cNvCxnSpPr>
          <p:nvPr/>
        </p:nvCxnSpPr>
        <p:spPr>
          <a:xfrm flipH="1" flipV="1">
            <a:off x="4549139" y="2578608"/>
            <a:ext cx="937261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17920" y="2103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6000" y="2578608"/>
            <a:ext cx="716280" cy="107899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7180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Unit of measure</a:t>
            </a:r>
          </a:p>
        </p:txBody>
      </p:sp>
      <p:cxnSp>
        <p:nvCxnSpPr>
          <p:cNvPr id="15" name="Connector 14"/>
          <p:cNvCxnSpPr>
            <a:endCxn id="14" idx="5"/>
          </p:cNvCxnSpPr>
          <p:nvPr/>
        </p:nvCxnSpPr>
        <p:spPr>
          <a:xfrm flipH="1" flipV="1">
            <a:off x="4337656" y="3651974"/>
            <a:ext cx="554384" cy="162833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60" y="324612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Hazard Level</a:t>
            </a:r>
          </a:p>
        </p:txBody>
      </p:sp>
      <p:cxnSp>
        <p:nvCxnSpPr>
          <p:cNvPr id="17" name="Connector 16"/>
          <p:cNvCxnSpPr>
            <a:endCxn id="16" idx="3"/>
          </p:cNvCxnSpPr>
          <p:nvPr/>
        </p:nvCxnSpPr>
        <p:spPr>
          <a:xfrm flipV="1">
            <a:off x="6812280" y="3651974"/>
            <a:ext cx="417224" cy="110713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1880" y="4572000"/>
            <a:ext cx="1600200" cy="475488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Reorder threshold</a:t>
            </a:r>
          </a:p>
        </p:txBody>
      </p:sp>
      <p:cxnSp>
        <p:nvCxnSpPr>
          <p:cNvPr id="19" name="Connector 18"/>
          <p:cNvCxnSpPr>
            <a:endCxn id="18" idx="7"/>
          </p:cNvCxnSpPr>
          <p:nvPr/>
        </p:nvCxnSpPr>
        <p:spPr>
          <a:xfrm flipH="1">
            <a:off x="4977736" y="4297680"/>
            <a:ext cx="554384" cy="34395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10" name="Oval 9"/>
          <p:cNvSpPr/>
          <p:nvPr/>
        </p:nvSpPr>
        <p:spPr>
          <a:xfrm>
            <a:off x="6126480" y="2788920"/>
            <a:ext cx="1417320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1" u="sng">
                <a:solidFill>
                  <a:srgbClr val="1E293B"/>
                </a:solidFill>
                <a:latin typeface="Aptos"/>
              </a:rPr>
              <a:t>Supplier-id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788920"/>
            <a:ext cx="105156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sp>
        <p:nvSpPr>
          <p:cNvPr id="12" name="Oval 11"/>
          <p:cNvSpPr/>
          <p:nvPr/>
        </p:nvSpPr>
        <p:spPr>
          <a:xfrm>
            <a:off x="5989320" y="4617720"/>
            <a:ext cx="96012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email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4617720"/>
            <a:ext cx="14630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20" b="0">
                <a:solidFill>
                  <a:srgbClr val="1E293B"/>
                </a:solidFill>
                <a:latin typeface="Aptos"/>
              </a:rPr>
              <a:t>Phone Number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949440" y="3227832"/>
            <a:ext cx="73152" cy="612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4"/>
          </p:cNvCxnSpPr>
          <p:nvPr/>
        </p:nvCxnSpPr>
        <p:spPr>
          <a:xfrm flipH="1">
            <a:off x="7790688" y="3227832"/>
            <a:ext cx="461771" cy="612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790688" y="4462272"/>
            <a:ext cx="100584" cy="1554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6647688" y="4462272"/>
            <a:ext cx="155448" cy="1554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840480"/>
            <a:ext cx="18288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84048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Consumable — Contract — Laboratory / Supplier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840480"/>
            <a:ext cx="169164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0" name="Diamond 9"/>
          <p:cNvSpPr/>
          <p:nvPr/>
        </p:nvSpPr>
        <p:spPr>
          <a:xfrm>
            <a:off x="3611880" y="3657600"/>
            <a:ext cx="1508760" cy="804672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892040"/>
            <a:ext cx="164592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13" name="Oval 12"/>
          <p:cNvSpPr/>
          <p:nvPr/>
        </p:nvSpPr>
        <p:spPr>
          <a:xfrm>
            <a:off x="3154680" y="2743200"/>
            <a:ext cx="91440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price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743200"/>
            <a:ext cx="109728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468880" y="4059936"/>
            <a:ext cx="1234440" cy="91440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4059936"/>
            <a:ext cx="1554480" cy="91440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15968" y="4462272"/>
            <a:ext cx="164592" cy="42976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11880" y="3182112"/>
            <a:ext cx="457200" cy="65836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389120" y="3182112"/>
            <a:ext cx="731520" cy="493777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28800"/>
            <a:ext cx="6675120" cy="333756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7" y="1664208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2" name="Diamond 11"/>
          <p:cNvSpPr/>
          <p:nvPr/>
        </p:nvSpPr>
        <p:spPr>
          <a:xfrm>
            <a:off x="3703320" y="3685032"/>
            <a:ext cx="118872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050" b="1" dirty="0">
                <a:solidFill>
                  <a:srgbClr val="1E293B"/>
                </a:solidFill>
                <a:latin typeface="Aptos"/>
              </a:rPr>
              <a:t>In </a:t>
            </a:r>
            <a:r>
              <a:rPr sz="1050" b="1" dirty="0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0" y="2697480"/>
            <a:ext cx="160020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50" b="0">
                <a:solidFill>
                  <a:srgbClr val="1E293B"/>
                </a:solidFill>
                <a:latin typeface="Aptos"/>
              </a:rPr>
              <a:t>Storage condition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2697480"/>
            <a:ext cx="10058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4617720"/>
            <a:ext cx="141732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20" b="0">
                <a:solidFill>
                  <a:srgbClr val="1E293B"/>
                </a:solidFill>
                <a:latin typeface="Aptos"/>
              </a:rPr>
              <a:t>Last restock 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9000" y="3127248"/>
            <a:ext cx="612648" cy="77724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343400" y="3127248"/>
            <a:ext cx="777240" cy="53035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0560" y="4361688"/>
            <a:ext cx="256032" cy="256032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9000" y="4041648"/>
            <a:ext cx="27432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92040" y="4041648"/>
            <a:ext cx="822960" cy="10972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Stock — Uses — 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4069080" cy="237744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92807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1828800" y="2971800"/>
            <a:ext cx="1143000" cy="749808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lang="fr-FR" sz="1050" b="1" dirty="0">
                <a:solidFill>
                  <a:srgbClr val="1E293B"/>
                </a:solidFill>
                <a:latin typeface="Aptos"/>
              </a:rPr>
              <a:t>In </a:t>
            </a:r>
            <a:r>
              <a:rPr sz="1050" b="1" dirty="0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057400"/>
            <a:ext cx="4069080" cy="237744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1892807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423160"/>
            <a:ext cx="182880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15" name="Diamond 14"/>
          <p:cNvSpPr/>
          <p:nvPr/>
        </p:nvSpPr>
        <p:spPr>
          <a:xfrm>
            <a:off x="8732520" y="3108960"/>
            <a:ext cx="1051560" cy="73152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Made 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977639"/>
            <a:ext cx="160020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7" name="Diamond 16"/>
          <p:cNvSpPr/>
          <p:nvPr/>
        </p:nvSpPr>
        <p:spPr>
          <a:xfrm>
            <a:off x="4892040" y="2971800"/>
            <a:ext cx="109728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Uses</a:t>
            </a:r>
          </a:p>
        </p:txBody>
      </p:sp>
      <p:sp>
        <p:nvSpPr>
          <p:cNvPr id="18" name="Oval 17"/>
          <p:cNvSpPr/>
          <p:nvPr/>
        </p:nvSpPr>
        <p:spPr>
          <a:xfrm>
            <a:off x="4804410" y="4114800"/>
            <a:ext cx="105156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  <p:cxnSp>
        <p:nvCxnSpPr>
          <p:cNvPr id="19" name="Connector 18"/>
          <p:cNvCxnSpPr>
            <a:stCxn id="9" idx="3"/>
          </p:cNvCxnSpPr>
          <p:nvPr/>
        </p:nvCxnSpPr>
        <p:spPr>
          <a:xfrm>
            <a:off x="4709160" y="3246120"/>
            <a:ext cx="182880" cy="10058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89320" y="3346704"/>
            <a:ext cx="1463040" cy="1371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074920" y="3749039"/>
            <a:ext cx="365760" cy="365761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0"/>
          <p:cNvSpPr/>
          <p:nvPr/>
        </p:nvSpPr>
        <p:spPr>
          <a:xfrm>
            <a:off x="1655064" y="2190902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25" name="Rounded Rectangle 12"/>
          <p:cNvSpPr/>
          <p:nvPr/>
        </p:nvSpPr>
        <p:spPr>
          <a:xfrm>
            <a:off x="1607820" y="3840480"/>
            <a:ext cx="16002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CONSUMABLES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Stock — Maintained by — Technical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4800600" cy="2697480"/>
          </a:xfrm>
          <a:prstGeom prst="rect">
            <a:avLst/>
          </a:prstGeom>
          <a:noFill/>
          <a:ln w="17780">
            <a:solidFill>
              <a:srgbClr val="0EA5A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82880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0EA5A4"/>
                </a:solidFill>
                <a:latin typeface="Aptos"/>
              </a:rPr>
              <a:t>AGGREGATION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2057400" y="2971800"/>
            <a:ext cx="1143000" cy="749808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194560"/>
            <a:ext cx="14173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69948" y="3986908"/>
            <a:ext cx="141732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 dirty="0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3703320"/>
            <a:ext cx="0" cy="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6537960" y="3154680"/>
            <a:ext cx="1371600" cy="777240"/>
          </a:xfrm>
          <a:prstGeom prst="diamond">
            <a:avLst/>
          </a:prstGeom>
          <a:solidFill>
            <a:srgbClr val="FFFFFF"/>
          </a:solidFill>
          <a:ln w="215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Aptos"/>
              </a:rPr>
              <a:t>Maintained 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703320"/>
            <a:ext cx="1783080" cy="594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Technical staff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423160"/>
            <a:ext cx="1234440" cy="438912"/>
          </a:xfrm>
          <a:prstGeom prst="ellipse">
            <a:avLst/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820" b="0">
                <a:solidFill>
                  <a:srgbClr val="1E293B"/>
                </a:solidFill>
                <a:latin typeface="Aptos"/>
              </a:rPr>
              <a:t>Date of 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337560"/>
            <a:ext cx="3337560" cy="18288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9560" y="3566160"/>
            <a:ext cx="1234440" cy="429768"/>
          </a:xfrm>
          <a:prstGeom prst="line">
            <a:avLst/>
          </a:prstGeom>
          <a:ln w="381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6551728">
            <a:off x="9044941" y="3913756"/>
            <a:ext cx="146304" cy="146304"/>
          </a:xfrm>
          <a:prstGeom prst="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Straight Connector 22"/>
          <p:cNvCxnSpPr>
            <a:stCxn id="18" idx="4"/>
            <a:endCxn id="16" idx="0"/>
          </p:cNvCxnSpPr>
          <p:nvPr/>
        </p:nvCxnSpPr>
        <p:spPr>
          <a:xfrm flipH="1">
            <a:off x="7223760" y="2862072"/>
            <a:ext cx="251460" cy="2926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Person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First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Last 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Affiliation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05656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105656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Program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Phone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Position</a:t>
            </a: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Academic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No attributes specified for this set.</a:t>
            </a: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Non-Academic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Non-Academic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No attributes specified for this set.</a:t>
            </a: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Administrative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Administrative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No attributes specified for this set.</a:t>
            </a: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Technical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Technical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No attributes specified for this set.</a:t>
            </a: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Laboratory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lab-id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Building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Room number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Discipline area</a:t>
            </a: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Project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Project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Title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Budget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Budgeting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Money Granted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Amount disbursed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Start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End date</a:t>
            </a: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Model-id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Commercial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Manufacturer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Required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05656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Special Training</a:t>
            </a: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Equipment Unit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Serial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Acquisition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Purchase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Operational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Portable / fixed</a:t>
            </a: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Certification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Title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Issuing Authority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Validity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Safety Level</a:t>
            </a: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Reservation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Submission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Start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End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Purpose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05656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Status</a:t>
            </a: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507" y="2692908"/>
            <a:ext cx="1883664" cy="576072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60520" y="2788920"/>
            <a:ext cx="2057400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Start timestamps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6592" y="3154862"/>
            <a:ext cx="905256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End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105656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Outcome</a:t>
            </a: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Calibration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507" y="2692908"/>
            <a:ext cx="1883664" cy="576072"/>
          </a:xfrm>
          <a:prstGeom prst="roundRect">
            <a:avLst/>
          </a:prstGeom>
          <a:noFill/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60520" y="2788920"/>
            <a:ext cx="2057400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Aptos"/>
              </a:rPr>
              <a:t>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6592" y="3154862"/>
            <a:ext cx="905256" cy="0"/>
          </a:xfrm>
          <a:prstGeom prst="line">
            <a:avLst/>
          </a:prstGeom>
          <a:ln w="1397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Next due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Remarks</a:t>
            </a: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Consumable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stone-id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Unit of measure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Hazard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Reorder threshold</a:t>
            </a: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Supplier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88920"/>
            <a:ext cx="1874519" cy="53035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950" b="1" u="sng">
                <a:solidFill>
                  <a:srgbClr val="1E293B"/>
                </a:solidFill>
                <a:latin typeface="Aptos"/>
              </a:rPr>
              <a:t>Supplier-id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Phone Number</a:t>
            </a: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Involves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Involves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Role</a:t>
            </a: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Issue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Expiration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Grade</a:t>
            </a:r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Storage 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447287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Last restock date</a:t>
            </a:r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Quantity</a:t>
            </a:r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389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  <a:latin typeface="Aptos"/>
              </a:rPr>
              <a:t>ATTRIBUTE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10835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1E293B"/>
                </a:solidFill>
                <a:latin typeface="Aptos"/>
              </a:rPr>
              <a:t>Maintained by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9738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2651760"/>
            <a:ext cx="196596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Maintained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18288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788920"/>
            <a:ext cx="2057400" cy="43891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1E293B"/>
                </a:solidFill>
                <a:latin typeface="Aptos"/>
              </a:rPr>
              <a:t>Date of start</a:t>
            </a:r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694944"/>
            <a:ext cx="2017925" cy="4154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fr-FR" sz="2700" b="1" i="0" dirty="0" err="1">
                <a:solidFill>
                  <a:srgbClr val="1E293B"/>
                </a:solidFill>
                <a:latin typeface="Aptos"/>
              </a:rPr>
              <a:t>Contributors</a:t>
            </a:r>
            <a:endParaRPr sz="2700" b="1" i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504" y="1280160"/>
            <a:ext cx="10972800" cy="12801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365760"/>
            <a:ext cx="3840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37960"/>
            <a:ext cx="2103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Aptos"/>
              </a:rPr>
              <a:t>ER MODEL •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37960"/>
            <a:ext cx="2240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1" i="0">
                <a:solidFill>
                  <a:srgbClr val="64748B"/>
                </a:solidFill>
                <a:latin typeface="Aptos"/>
              </a:rPr>
              <a:t>RLMS • CONCEPTUAL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468775"/>
            <a:ext cx="304609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fr-FR" sz="2700" b="1" i="0" dirty="0">
                <a:solidFill>
                  <a:srgbClr val="1E293B"/>
                </a:solidFill>
                <a:latin typeface="Aptos"/>
              </a:rPr>
              <a:t>Adam AIT LAHCEN</a:t>
            </a:r>
            <a:endParaRPr sz="2700" b="1" i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2024481"/>
            <a:ext cx="18548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fr-FR" sz="2700" b="1" i="0" dirty="0">
                <a:solidFill>
                  <a:srgbClr val="1E293B"/>
                </a:solidFill>
                <a:latin typeface="Aptos"/>
              </a:rPr>
              <a:t>Driss BITAR</a:t>
            </a:r>
            <a:endParaRPr sz="2700" b="1" i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" y="2580187"/>
            <a:ext cx="330962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fr-FR" sz="2700" b="1" i="0" dirty="0">
                <a:solidFill>
                  <a:srgbClr val="1E293B"/>
                </a:solidFill>
                <a:latin typeface="Aptos"/>
              </a:rPr>
              <a:t>Rayane </a:t>
            </a:r>
            <a:r>
              <a:rPr lang="fr-FR" sz="2700" b="1" i="0" dirty="0" err="1">
                <a:solidFill>
                  <a:srgbClr val="1E293B"/>
                </a:solidFill>
                <a:latin typeface="Aptos"/>
              </a:rPr>
              <a:t>BENYASSINE</a:t>
            </a:r>
            <a:endParaRPr sz="2700" b="1" i="0" dirty="0">
              <a:solidFill>
                <a:srgbClr val="1E293B"/>
              </a:solidFill>
              <a:latin typeface="Apto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1602</Words>
  <Application>Microsoft Office PowerPoint</Application>
  <PresentationFormat>Widescreen</PresentationFormat>
  <Paragraphs>720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Adam Ait lahcen</cp:lastModifiedBy>
  <cp:revision>4</cp:revision>
  <dcterms:created xsi:type="dcterms:W3CDTF">2013-01-27T09:14:00Z</dcterms:created>
  <dcterms:modified xsi:type="dcterms:W3CDTF">2026-09-20T09:53:54Z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4410EED5633D4B0FAA8DD2F9FAB0A7E9_12</vt:lpwstr>
  </property>
  <property fmtid="{D5CDD505-2E9C-101B-9397-08002B2CF9AE}" pid="3" name="KSOProductBuildVer">
    <vt:lpwstr>1036-12.1.0.28485</vt:lpwstr>
  </property>
</Properties>
</file>